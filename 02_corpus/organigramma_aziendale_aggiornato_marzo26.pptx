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versione preparata per l'audit interno e per la riunione capireparto di aprile. Sostituisce la rev. 6 di ottobre 2025 che gira ancora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 schema grafico e' nel file organigramma_rev7.vsdx sul server, qui e' incollato come immagine. Se si aggiorna il visio NON si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organico Linea 2 in sofferenza, vedi dati HR. Non metterlo nella slide, dirlo a voce se chiedono.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casella "da nominare" primo soccorso notte e' li' da settembre. Bonato l'ha segnalata due volte. Decidere PRIMA della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chiudere la slide con la frase del titolare "le caselle vuote costano piu' di quelle piene", che almeno cosi la smette di dirla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AURORA FOOD GROUP S.r.l.</a:t>
            </a:r>
          </a:p>
          <a:p>
            <a:r>
              <a:rPr sz="1200"/>
              <a:t>Organigramma aziendale e assetto delle responsabilita'</a:t>
            </a:r>
          </a:p>
          <a:p>
            <a:r>
              <a:rPr sz="1200"/>
              <a:t>Revisione: marzo 2026 (rev. 7)</a:t>
            </a:r>
          </a:p>
          <a:p>
            <a:r>
              <a:rPr sz="1200"/>
              <a:t>A cura di: F. Sartori (HR) con ing. M. Fantin</a:t>
            </a:r>
          </a:p>
          <a:p>
            <a:r>
              <a:rPr sz="1200"/>
              <a:t>Documento interno - distribuzione controllata</a:t>
            </a:r>
          </a:p>
          <a:p>
            <a:r>
              <a:rPr sz="1200"/>
              <a:t/>
            </a:r>
          </a:p>
          <a:p>
            <a:r>
              <a:rPr sz="1200"/>
              <a:t>appesa in bacheca in produzione, DA TOGLIERE.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L'azienda in numeri</a:t>
            </a:r>
          </a:p>
          <a:p>
            <a:r>
              <a:rPr sz="1300"/>
              <a:t>• Sede e stabilimento: Via dell'Industria 27, Cologna Veneta (VR)</a:t>
            </a:r>
          </a:p>
          <a:p>
            <a:r>
              <a:rPr sz="1300"/>
              <a:t>• Secondo magazzino prodotto finito surgelato: Via Palu' 3/A, Cologna Veneta</a:t>
            </a:r>
          </a:p>
          <a:p>
            <a:r>
              <a:rPr sz="1300"/>
              <a:t>• Dipendenti: 50 (38 produzione e turnisti, 12 impiegati)</a:t>
            </a:r>
          </a:p>
          <a:p>
            <a:r>
              <a:rPr sz="1300"/>
              <a:t>• Fatturato 2025: 11,48 mln EUR - budget 2026: 13,2 mln</a:t>
            </a:r>
          </a:p>
          <a:p>
            <a:r>
              <a:rPr sz="1300"/>
              <a:t>• Certificazioni: BRCGS Food Safety Issue 9 (grade AA), IFS Food v8 Higher</a:t>
            </a:r>
          </a:p>
          <a:p>
            <a:r>
              <a:rPr sz="1200"/>
              <a:t>Level, ICEA IT BIO 006 (referenze bio linea 2)</a:t>
            </a:r>
          </a:p>
          <a:p>
            <a:r>
              <a:rPr sz="1200"/>
              <a:t>&lt;immagine: foto aerea stabilimento&gt;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Organigramma generale</a:t>
            </a:r>
          </a:p>
          <a:p>
            <a:r>
              <a:rPr sz="1200"/>
              <a:t>&lt;immagine: schema organigramma&gt;</a:t>
            </a:r>
          </a:p>
          <a:p>
            <a:r>
              <a:rPr sz="1200"/>
              <a:t/>
            </a:r>
          </a:p>
          <a:p>
            <a:r>
              <a:rPr sz="1200"/>
              <a:t>aggiorna da solo qui, ricordarselo.</a:t>
            </a:r>
          </a:p>
          <a:p>
            <a:r>
              <a:rPr sz="1300"/>
              <a:t>• Consiglio di Amministrazione</a:t>
            </a:r>
          </a:p>
          <a:p>
            <a:r>
              <a:rPr sz="1300"/>
              <a:t>• Amministratore Delegato: Giancarlo Bertoldi</a:t>
            </a:r>
          </a:p>
          <a:p>
            <a:r>
              <a:rPr sz="1300"/>
              <a:t>• riporti diretti AD: Direzione Commerciale, Direzione di Stabilimento,</a:t>
            </a:r>
          </a:p>
          <a:p>
            <a:r>
              <a:rPr sz="1200"/>
              <a:t>Amministrazione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Direzione</a:t>
            </a:r>
          </a:p>
          <a:p>
            <a:r>
              <a:rPr sz="1300"/>
              <a:t>• Amministratore Delegato: Giancarlo Bertoldi</a:t>
            </a:r>
          </a:p>
          <a:p>
            <a:r>
              <a:rPr sz="1300"/>
              <a:t>• legale rappresentante, datore di lavoro ex D.Lgs. 81/2008</a:t>
            </a:r>
          </a:p>
          <a:p>
            <a:r>
              <a:rPr sz="1300"/>
              <a:t>• Direzione Commerciale: Silvia Bertoldi</a:t>
            </a:r>
          </a:p>
          <a:p>
            <a:r>
              <a:rPr sz="1300"/>
              <a:t>• canale GDO e private label, gestione clienti direzionali (Tosano,</a:t>
            </a:r>
          </a:p>
          <a:p>
            <a:r>
              <a:rPr sz="1200"/>
              <a:t>Ali', Rossetto, Famila)</a:t>
            </a:r>
          </a:p>
          <a:p>
            <a:r>
              <a:rPr sz="1300"/>
              <a:t>• agente canale GDO Nord-Est: Paolo Zampieri</a:t>
            </a:r>
          </a:p>
          <a:p>
            <a:r>
              <a:rPr sz="1300"/>
              <a:t>• Direzione di Stabilimento / Operations: ing. Marco Fantin</a:t>
            </a:r>
          </a:p>
          <a:p>
            <a:r>
              <a:rPr sz="1300"/>
              <a:t>• delega di funzioni ex art. 16 D.Lgs. 81/2008 (atto del 12/01/2023,</a:t>
            </a:r>
          </a:p>
          <a:p>
            <a:r>
              <a:rPr sz="1200"/>
              <a:t>registrato)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Operations - Produzione</a:t>
            </a:r>
          </a:p>
          <a:p>
            <a:r>
              <a:rPr sz="1300"/>
              <a:t>• Responsabile Produzione: Denis Zanella</a:t>
            </a:r>
          </a:p>
          <a:p>
            <a:r>
              <a:rPr sz="1300"/>
              <a:t>• Capoturno Linea 1 (forni / MAP): Ionut Popescu</a:t>
            </a:r>
          </a:p>
          <a:p>
            <a:r>
              <a:rPr sz="1300"/>
              <a:t>• Capoturno Linea 2 (croissanteria): Adel Ben Salah</a:t>
            </a:r>
          </a:p>
          <a:p>
            <a:r>
              <a:rPr sz="1300"/>
              <a:t>• Capoturno Linea 3 (surgelati): Roberto Guerra</a:t>
            </a:r>
          </a:p>
          <a:p>
            <a:r>
              <a:rPr sz="1300"/>
              <a:t>• Manutenzione: Ivano Dal Maso (capo officina)</a:t>
            </a:r>
          </a:p>
          <a:p>
            <a:r>
              <a:rPr sz="1300"/>
              <a:t>• manutentore turno notte: Mirco Bissoli</a:t>
            </a:r>
          </a:p>
          <a:p>
            <a:r>
              <a:rPr sz="1300"/>
              <a:t>• Magazzino e Spedizioni: Nicola Faggionato</a:t>
            </a:r>
          </a:p>
          <a:p>
            <a:r>
              <a:rPr sz="1200"/>
              <a:t/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Qualita' e sicurezza alimentare</a:t>
            </a:r>
          </a:p>
          <a:p>
            <a:r>
              <a:rPr sz="1300"/>
              <a:t>• Responsabile Assicurazione Qualtia' (RSGQ): dott.ssa Elena Marchetti</a:t>
            </a:r>
          </a:p>
          <a:p>
            <a:r>
              <a:rPr sz="1300"/>
              <a:t>• Team Leader HACCP</a:t>
            </a:r>
          </a:p>
          <a:p>
            <a:r>
              <a:rPr sz="1300"/>
              <a:t>• rappresentante della direzione per BRCGS / IFS</a:t>
            </a:r>
          </a:p>
          <a:p>
            <a:r>
              <a:rPr sz="1300"/>
              <a:t>• Assistente Qualita' / QC laboratorio interno: Sara Pozzato</a:t>
            </a:r>
          </a:p>
          <a:p>
            <a:r>
              <a:rPr sz="1300"/>
              <a:t>• Consulente HACCP esterna: dott.ssa Chiara Vicentini (Studio Alimentaria,</a:t>
            </a:r>
          </a:p>
          <a:p>
            <a:r>
              <a:rPr sz="1200"/>
              <a:t>Verona)</a:t>
            </a:r>
          </a:p>
          <a:p>
            <a:r>
              <a:rPr sz="1300"/>
              <a:t>• Laboratorio esterno accreditato: Analytica Veneta S.r.l. (ACCREDIA 0987)</a:t>
            </a:r>
          </a:p>
          <a:p>
            <a:r>
              <a:rPr sz="1200"/>
              <a:t>Team HACCP: Marchetti (TL), Zanella, Popescu, Ben Salah, Guerra, Dal Maso,</a:t>
            </a:r>
          </a:p>
          <a:p>
            <a:r>
              <a:rPr sz="1200"/>
              <a:t>Faggionato, Vicentini (esterna)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Sicurezza sul lavoro (D.Lgs. 81/2008)</a:t>
            </a:r>
          </a:p>
          <a:p>
            <a:r>
              <a:rPr sz="1300"/>
              <a:t>• Datore di lavoro: Giancarlo Bertoldi</a:t>
            </a:r>
          </a:p>
          <a:p>
            <a:r>
              <a:rPr sz="1300"/>
              <a:t>• Dirigente delegato: ing. Marco Fantin</a:t>
            </a:r>
          </a:p>
          <a:p>
            <a:r>
              <a:rPr sz="1300"/>
              <a:t>• RSPP (esterno): p.i. Sergio Bonato - Studio Bonato &amp; Partners,</a:t>
            </a:r>
          </a:p>
          <a:p>
            <a:r>
              <a:rPr sz="1200"/>
              <a:t>Arzignano (VI) - incarico rinnovato 01/2026</a:t>
            </a:r>
          </a:p>
          <a:p>
            <a:r>
              <a:rPr sz="1300"/>
              <a:t>• Medico competente: dott. Guido Salvalaio</a:t>
            </a:r>
          </a:p>
          <a:p>
            <a:r>
              <a:rPr sz="1300"/>
              <a:t>• RLS: Paolo Bertacco (eletto 11/2024)</a:t>
            </a:r>
          </a:p>
          <a:p>
            <a:r>
              <a:rPr sz="1300"/>
              <a:t>• Preposti: Zanella, Popescu, Ben Salah, Guerra, Faggionato, Dal Maso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Squadre di emergenza</a:t>
            </a:r>
          </a:p>
          <a:p>
            <a:r>
              <a:rPr sz="1200"/>
              <a:t>Addetti primo soccorso:</a:t>
            </a:r>
          </a:p>
          <a:p>
            <a:r>
              <a:rPr sz="1300"/>
              <a:t>• Guerra Roberto (Linea 3)</a:t>
            </a:r>
          </a:p>
          <a:p>
            <a:r>
              <a:rPr sz="1300"/>
              <a:t>• Marobin Anna (confezionamento)</a:t>
            </a:r>
          </a:p>
          <a:p>
            <a:r>
              <a:rPr sz="1300"/>
              <a:t>• Trentin Luisa (uffici)</a:t>
            </a:r>
          </a:p>
          <a:p>
            <a:r>
              <a:rPr sz="1300"/>
              <a:t>• Refosco Sonia (Linea 2)</a:t>
            </a:r>
          </a:p>
          <a:p>
            <a:r>
              <a:rPr sz="1300"/>
              <a:t>• da nominare (turno notte) &lt;- SCOPERTO, urgente</a:t>
            </a:r>
          </a:p>
          <a:p>
            <a:r>
              <a:rPr sz="1200"/>
              <a:t>Addetti antincendio:</a:t>
            </a:r>
          </a:p>
          <a:p>
            <a:r>
              <a:rPr sz="1300"/>
              <a:t>• Bissoli Mirco (turno notte)</a:t>
            </a:r>
          </a:p>
          <a:p>
            <a:r>
              <a:rPr sz="1300"/>
              <a:t>• Faggionato Nicola (magazzino)</a:t>
            </a:r>
          </a:p>
          <a:p>
            <a:r>
              <a:rPr sz="1300"/>
              <a:t>• Sbalchiero Damiano (Linea 3)</a:t>
            </a:r>
          </a:p>
          <a:p>
            <a:r>
              <a:rPr sz="1300"/>
              <a:t>• Dal Maso Ivano (officina)</a:t>
            </a:r>
          </a:p>
          <a:p>
            <a:r>
              <a:rPr sz="1300"/>
              <a:t>• da nominare (uffici piano primo)</a:t>
            </a:r>
          </a:p>
          <a:p>
            <a:r>
              <a:rPr sz="1200"/>
              <a:t/>
            </a:r>
          </a:p>
          <a:p>
            <a:r>
              <a:rPr sz="1200"/>
              <a:t>visita ULSS.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Amministrazione e HR</a:t>
            </a:r>
          </a:p>
          <a:p>
            <a:r>
              <a:rPr sz="1300"/>
              <a:t>• Amministrazione e contabilita': rag. Luisa Trentin</a:t>
            </a:r>
          </a:p>
          <a:p>
            <a:r>
              <a:rPr sz="1300"/>
              <a:t>• fatturazione attiva/passiva, RIBA, rapporti con UniCredit</a:t>
            </a:r>
          </a:p>
          <a:p>
            <a:r>
              <a:rPr sz="1300"/>
              <a:t>• rapporti con Studio Bellotto &amp; Associati (Lonigo) - dott. A. Bellotto</a:t>
            </a:r>
          </a:p>
          <a:p>
            <a:r>
              <a:rPr sz="1300"/>
              <a:t>• Risorse Umane e segreteria: Federica Sartori (part-time 30h)</a:t>
            </a:r>
          </a:p>
          <a:p>
            <a:r>
              <a:rPr sz="1300"/>
              <a:t>• presenze, paghe (con studio esterno), formazione, selezione</a:t>
            </a:r>
          </a:p>
          <a:p>
            <a:r>
              <a:rPr sz="1300"/>
              <a:t>• centralino/ricevimento: ruota su uffici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Ricerca e Sviluppo</a:t>
            </a:r>
          </a:p>
          <a:p>
            <a:r>
              <a:rPr sz="1300"/>
              <a:t>• R&amp;D - tecnologo alimentare: dott. Alberto Zanchetta</a:t>
            </a:r>
          </a:p>
          <a:p>
            <a:r>
              <a:rPr sz="1300"/>
              <a:t>• sviluppo referenze (in corso: AF-SN-0470 snack paprika e semi, v12)</a:t>
            </a:r>
          </a:p>
          <a:p>
            <a:r>
              <a:rPr sz="1300"/>
              <a:t>• shelf life, prove industriali, rapporti con universita'</a:t>
            </a:r>
          </a:p>
          <a:p>
            <a:r>
              <a:rPr sz="1300"/>
              <a:t>• tirocinante R&amp;D: Giulia Meneghello (tesi triennale UNIPD)</a:t>
            </a:r>
          </a:p>
          <a:p>
            <a:r>
              <a:rPr sz="1200"/>
              <a:t/>
            </a:r>
          </a:p>
          <a:p>
            <a:r>
              <a:rPr sz="1300"/>
              <a:t>• pack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Deleghe e responsabilita' - quadro sintetico</a:t>
            </a:r>
          </a:p>
          <a:p>
            <a:r>
              <a:rPr sz="1200"/>
              <a:t>Funzione                    Titolare           Atto/data</a:t>
            </a:r>
          </a:p>
          <a:p>
            <a:r>
              <a:rPr sz="1200"/>
              <a:t>------------------------------------------------------------</a:t>
            </a:r>
          </a:p>
          <a:p>
            <a:r>
              <a:rPr sz="1200"/>
              <a:t>Datore di lavoro            G. Bertoldi        -</a:t>
            </a:r>
          </a:p>
          <a:p>
            <a:r>
              <a:rPr sz="1200"/>
              <a:t>Delega sicurezza            M. Fantin          12/01/2023</a:t>
            </a:r>
          </a:p>
          <a:p>
            <a:r>
              <a:rPr sz="1200"/>
              <a:t>RSPP                        S. Bonato          incarico 01/2026</a:t>
            </a:r>
          </a:p>
          <a:p>
            <a:r>
              <a:rPr sz="1200"/>
              <a:t>Medico competente           G. Salvalaio       nomina 03/2022</a:t>
            </a:r>
          </a:p>
          <a:p>
            <a:r>
              <a:rPr sz="1200"/>
              <a:t>Team Leader HACCP           E. Marchetti       nomina 05/2019</a:t>
            </a:r>
          </a:p>
          <a:p>
            <a:r>
              <a:rPr sz="1200"/>
              <a:t>RLS                         P. Bertacco        elezione 11/2024</a:t>
            </a:r>
          </a:p>
          <a:p>
            <a:r>
              <a:rPr sz="1200"/>
              <a:t>Resp. etichettatura/MOCA    da nominare        &lt;- proposta: Marchetti</a:t>
            </a:r>
          </a:p>
          <a:p>
            <a:r>
              <a:rPr sz="1200"/>
              <a:t>Resp. crisi / ritiro-richiamo  E. Marchetti    proc. PRO-QA-14</a:t>
            </a:r>
          </a:p>
          <a:p>
            <a:r>
              <a:rPr sz="1200"/>
              <a:t>Privacy - referente interno da nominare        &lt;- sollecitato da</a:t>
            </a:r>
          </a:p>
          <a:p>
            <a:r>
              <a:rPr sz="1200"/>
              <a:t>Bellotto 02/2026</a:t>
            </a:r>
          </a:p>
          <a:p>
            <a:r>
              <a:rPr sz="1200"/>
              <a:t>Grafico 1 - vedi file Excel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/>
              <a:t>(senza titolo)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80467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200"/>
              <a:t>Prossimi passi</a:t>
            </a:r>
          </a:p>
          <a:p>
            <a:r>
              <a:rPr sz="1300"/>
              <a:t>• nominare addetto primo soccorso turno notte (entro aprile)</a:t>
            </a:r>
          </a:p>
          <a:p>
            <a:r>
              <a:rPr sz="1300"/>
              <a:t>• nominare referente privacy interno</a:t>
            </a:r>
          </a:p>
          <a:p>
            <a:r>
              <a:rPr sz="1300"/>
              <a:t>• formalizzare sostituto del TL HACCP in assenza Marchetti (oggi di fatto</a:t>
            </a:r>
          </a:p>
          <a:p>
            <a:r>
              <a:rPr sz="1200"/>
              <a:t>Pozzato, ma non c'e' nomina scritta)</a:t>
            </a:r>
          </a:p>
          <a:p>
            <a:r>
              <a:rPr sz="1300"/>
              <a:t>• aggiornare bacheca produzione con rev. 7 e RITIRARE la rev. 6</a:t>
            </a:r>
          </a:p>
          <a:p>
            <a:r>
              <a:rPr sz="1300"/>
              <a:t>• prossima revisione organigramma: settembre 2026 (dopo ingresso</a:t>
            </a:r>
          </a:p>
          <a:p>
            <a:r>
              <a:rPr sz="1200"/>
              <a:t>apprendisti)</a:t>
            </a:r>
          </a:p>
          <a:p>
            <a:r>
              <a:rPr sz="1200"/>
              <a:t/>
            </a:r>
          </a:p>
          <a:p>
            <a:r>
              <a:rPr sz="1200"/>
              <a:t>solo in corridoio.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Company>Aurora Food Group S.r.l.</Company>
  <AppVersion>16.0300</AppVersion>
  <TotalTime>518</TotalTime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organigramma aziendale aggiornato marzo26</dc:title>
  <dc:creator>Federica Sartori</dc:creator>
  <cp:lastModifiedBy>Federica Sartori</cp:lastModifiedBy>
  <cp:revision>19</cp:revision>
  <dc:description/>
  <dcterms:created xsi:type="dcterms:W3CDTF">2025-08-06T07:30:18Z</dcterms:created>
  <dcterms:modified xsi:type="dcterms:W3CDTF">2026-03-06T15:30:18Z</dcterms:modified>
  <cp:company>Aurora Food Group S.r.l.</cp:company>
</cp:coreProperties>
</file>