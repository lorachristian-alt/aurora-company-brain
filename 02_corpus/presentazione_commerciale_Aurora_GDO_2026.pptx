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AURORA FOOD GROUP S.r.l.</a:t>
            </a:r>
          </a:p>
          <a:p>
            <a:r>
              <a:rPr sz="1200"/>
              <a:t>Prodotti da forno farciti e snack salati in ATM - Croissanteria surgelata - Private Label GDO</a:t>
            </a:r>
          </a:p>
          <a:p>
            <a:r>
              <a:rPr sz="1200"/>
              <a:t>&lt;immagine: foto stabilimento Cologna Veneta dall'alto&gt;</a:t>
            </a:r>
          </a:p>
          <a:p>
            <a:r>
              <a:rPr sz="1200"/>
              <a:t>Presentazione commerciale canale GDO - edizione 2026</a:t>
            </a:r>
          </a:p>
          <a:p>
            <a:r>
              <a:rPr sz="1200"/>
              <a:t>Direzione Commerciale - Silvia Bertoldi</a:t>
            </a:r>
          </a:p>
          <a:p>
            <a:r>
              <a:rPr sz="1200"/>
              <a:t>[Note relatore: aprire con la storia di famiglia, NON partire dai numeri. Giancarlo vuole che si citi sempre il papà fornaio.]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CHI SIAMO</a:t>
            </a:r>
          </a:p>
          <a:p>
            <a:r>
              <a:rPr sz="1300"/>
              <a:t>• Azienda familiare, seconda generazione</a:t>
            </a:r>
          </a:p>
          <a:p>
            <a:r>
              <a:rPr sz="1300"/>
              <a:t>• Sede e stabilimento: Via dell'Industria 27, Cologna Veneta (VR)</a:t>
            </a:r>
          </a:p>
          <a:p>
            <a:r>
              <a:rPr sz="1300"/>
              <a:t>• 50 dipendenti (38 produzione, 12 uffici)</a:t>
            </a:r>
          </a:p>
          <a:p>
            <a:r>
              <a:rPr sz="1300"/>
              <a:t>• 3 linee produttive: ATM/MAP, croissanteria surgelata, surgelati</a:t>
            </a:r>
          </a:p>
          <a:p>
            <a:r>
              <a:rPr sz="1300"/>
              <a:t>• Cliente tipo: GDO e private label Nord-Est</a:t>
            </a:r>
          </a:p>
          <a:p>
            <a:r>
              <a:rPr sz="1300"/>
              <a:t>• Secondo magazzino prodotto finito surgelato in Via Palù 3/A</a:t>
            </a:r>
          </a:p>
          <a:p>
            <a:r>
              <a:rPr sz="1200"/>
              <a:t>&lt;immagine: famiglia Bertoldi davanti al forno storico&gt;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LA NOSTRA STORIA</a:t>
            </a:r>
          </a:p>
          <a:p>
            <a:r>
              <a:rPr sz="1200"/>
              <a:t>1994 - Giancarlo Bertoldi rileva il forno di famiglia e fonda Aurora</a:t>
            </a:r>
          </a:p>
          <a:p>
            <a:r>
              <a:rPr sz="1200"/>
              <a:t>2001 - primo capannone in zona industriale, Via dell'Industria</a:t>
            </a:r>
          </a:p>
          <a:p>
            <a:r>
              <a:rPr sz="1200"/>
              <a:t>2008 - entrata nel canale GDO con le focaccine in ATM</a:t>
            </a:r>
          </a:p>
          <a:p>
            <a:r>
              <a:rPr sz="1200"/>
              <a:t>2014 - LINEA 2 croissanteria, prima cella di lievitazione industriale</a:t>
            </a:r>
          </a:p>
          <a:p>
            <a:r>
              <a:rPr sz="1200"/>
              <a:t>2019 - registrazione sanitaria n. 037/2019/SIAN - ULSS 9 Scaligera</a:t>
            </a:r>
          </a:p>
          <a:p>
            <a:r>
              <a:rPr sz="1200"/>
              <a:t>2021 - certificazione BRCGS e IFS al primo audit</a:t>
            </a:r>
          </a:p>
          <a:p>
            <a:r>
              <a:rPr sz="1200"/>
              <a:t>2024 - Silvia Bertoldi assume la Direzione Commerciale</a:t>
            </a:r>
          </a:p>
          <a:p>
            <a:r>
              <a:rPr sz="1200"/>
              <a:t>2026 - progetto nuovo tunnel di surgelazione a spirale</a:t>
            </a:r>
          </a:p>
          <a:p>
            <a:r>
              <a:rPr sz="1200"/>
              <a:t>[Note relatore: qui di solito Giancarlo si commuove, lasciarlo parlare]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I NUMERI DI AURORA</a:t>
            </a:r>
          </a:p>
          <a:p>
            <a:r>
              <a:rPr sz="1300"/>
              <a:t>• Fatturato 2025: 11.480.000 €</a:t>
            </a:r>
          </a:p>
          <a:p>
            <a:r>
              <a:rPr sz="1300"/>
              <a:t>• Budget 2026: 13.200.000 €</a:t>
            </a:r>
          </a:p>
          <a:p>
            <a:r>
              <a:rPr sz="1300"/>
              <a:t>• 50 dipendenti</a:t>
            </a:r>
          </a:p>
          <a:p>
            <a:r>
              <a:rPr sz="1300"/>
              <a:t>• 3 linee produttive</a:t>
            </a:r>
          </a:p>
          <a:p>
            <a:r>
              <a:rPr sz="1300"/>
              <a:t>• oltre 40 referenze attive</a:t>
            </a:r>
          </a:p>
          <a:p>
            <a:r>
              <a:rPr sz="1300"/>
              <a:t>• 6 clienti GDO diretti + grossisti Ho.Re.Ca.</a:t>
            </a:r>
          </a:p>
          <a:p>
            <a:r>
              <a:rPr sz="1200"/>
              <a:t>&lt;grafico: fatturato 2021-2025&gt;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LO STABILIMENTO</a:t>
            </a:r>
          </a:p>
          <a:p>
            <a:r>
              <a:rPr sz="1300"/>
              <a:t>• 6.500 mq coperti su area di 11.000 mq</a:t>
            </a:r>
          </a:p>
          <a:p>
            <a:r>
              <a:rPr sz="1300"/>
              <a:t>• LINEA 1: impasto - forno tunnel FT-01 - tunnel termico PT-104 - metal detector MD-3200 - confezionatrice MAP PKM-450 (flow-pack in atmosfera protettiva)</a:t>
            </a:r>
          </a:p>
          <a:p>
            <a:r>
              <a:rPr sz="1300"/>
              <a:t>• LINEA 2: croissanteria, impastatrice IMP-300 da 300 kg, sfogliatrice, cella lievitazione, forno FT-02</a:t>
            </a:r>
          </a:p>
          <a:p>
            <a:r>
              <a:rPr sz="1300"/>
              <a:t>• LINEA 3: surgelati, tunnel TS-01 e cella CF-02 a -18°C</a:t>
            </a:r>
          </a:p>
          <a:p>
            <a:r>
              <a:rPr sz="1300"/>
              <a:t>• Impianto CIP-01 di lavaggio automatico</a:t>
            </a:r>
          </a:p>
          <a:p>
            <a:r>
              <a:rPr sz="1300"/>
              <a:t>• Laboratorio QC interno + laboratorio esterno accreditato ACCREDIA</a:t>
            </a:r>
          </a:p>
          <a:p>
            <a:r>
              <a:rPr sz="1200"/>
              <a:t>&lt;immagine: layout stabilimento&gt;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CRESCITA COSTANTE</a:t>
            </a:r>
          </a:p>
          <a:p>
            <a:r>
              <a:rPr sz="1200"/>
              <a:t>Fatturato (mln €)</a:t>
            </a:r>
          </a:p>
          <a:p>
            <a:r>
              <a:rPr sz="1200"/>
              <a:t>2021: 7,9</a:t>
            </a:r>
          </a:p>
          <a:p>
            <a:r>
              <a:rPr sz="1200"/>
              <a:t>2022: 8,8</a:t>
            </a:r>
          </a:p>
          <a:p>
            <a:r>
              <a:rPr sz="1200"/>
              <a:t>2023: 9,6</a:t>
            </a:r>
          </a:p>
          <a:p>
            <a:r>
              <a:rPr sz="1200"/>
              <a:t>2024: 10,7</a:t>
            </a:r>
          </a:p>
          <a:p>
            <a:r>
              <a:rPr sz="1200"/>
              <a:t>2025: 12,1</a:t>
            </a:r>
          </a:p>
          <a:p>
            <a:r>
              <a:rPr sz="1200"/>
              <a:t>2026 (budget): 13,2</a:t>
            </a:r>
          </a:p>
          <a:p>
            <a:r>
              <a:rPr sz="1200"/>
              <a:t>+53% negli ultimi 5 anni</a:t>
            </a:r>
          </a:p>
          <a:p>
            <a:r>
              <a:rPr sz="1200"/>
              <a:t>Grafico 1 - vedi file Excel</a:t>
            </a:r>
          </a:p>
          <a:p>
            <a:r>
              <a:rPr sz="1200"/>
              <a:t>[Note relatore: dato 2025 da riverificare con Trentin, nel gestionale risulta 11,48 - PRIMA DELLA STAMPA]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CERTIFICAZIONI E QUALITA'</a:t>
            </a:r>
          </a:p>
          <a:p>
            <a:r>
              <a:rPr sz="1300"/>
              <a:t>• BRCGS Food Safety Issue 9 - grade AA - cert. n. BRC/IT/24/00871</a:t>
            </a:r>
          </a:p>
          <a:p>
            <a:r>
              <a:rPr sz="1300"/>
              <a:t>• IFS Food v8 - Higher Level 97,32% - cert. n. IFS/IT/25/03390</a:t>
            </a:r>
          </a:p>
          <a:p>
            <a:r>
              <a:rPr sz="1300"/>
              <a:t>• Ente di certificazione: CSQA Certificazioni S.r.l. (Thiene, VI)</a:t>
            </a:r>
          </a:p>
          <a:p>
            <a:r>
              <a:rPr sz="1300"/>
              <a:t>• Biologico ICEA IT BIO 006 - referenze bio linea 2</a:t>
            </a:r>
          </a:p>
          <a:p>
            <a:r>
              <a:rPr sz="1300"/>
              <a:t>• Piano HACCP con 4 CCP presidiati, metal detection su ogni linea di confezionamento</a:t>
            </a:r>
          </a:p>
          <a:p>
            <a:r>
              <a:rPr sz="1300"/>
              <a:t>• Responsabile Qualità: dott.ssa Elena Marchetti, team HACCP interno</a:t>
            </a:r>
          </a:p>
          <a:p>
            <a:r>
              <a:rPr sz="1200"/>
              <a:t>&lt;immagine: certificati incorniciati sala riunioni&gt;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CAPACITA' PRODUTTIVA</a:t>
            </a:r>
          </a:p>
          <a:p>
            <a:r>
              <a:rPr sz="1300"/>
              <a:t>• LINEA 1 (snack ATM): fino a 4.200 pz/h</a:t>
            </a:r>
          </a:p>
          <a:p>
            <a:r>
              <a:rPr sz="1300"/>
              <a:t>• LINEA 2 (croissanteria surgelata): 18.000 pz/turno</a:t>
            </a:r>
          </a:p>
          <a:p>
            <a:r>
              <a:rPr sz="1300"/>
              <a:t>• LINEA 3 (surgelazione): 950 kg/h in continuo</a:t>
            </a:r>
          </a:p>
          <a:p>
            <a:r>
              <a:rPr sz="1300"/>
              <a:t>• Lavoro su 2 turni, terzo turno attivabile in alta stagione</a:t>
            </a:r>
          </a:p>
          <a:p>
            <a:r>
              <a:rPr sz="1300"/>
              <a:t>• Flessibilità su lotti minimi:  da 15.000 pz per la private label</a:t>
            </a:r>
          </a:p>
          <a:p>
            <a:r>
              <a:rPr sz="1300"/>
              <a:t>• Shelf life snack ATM: 60 gg - croissanteria surgelata: 12 mesi</a:t>
            </a:r>
          </a:p>
          <a:p>
            <a:r>
              <a:rPr sz="1200"/>
              <a:t>[Note relatore: NON promettere il 3° turno fisso, verificare con Fantin e Zanella prima]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LE NOSTRE REFERENZE - SNACK E FORNO ATM</a:t>
            </a:r>
          </a:p>
          <a:p>
            <a:r>
              <a:rPr sz="1300"/>
              <a:t>• AF-SN-0450 - Snack salato rustico multicereali 100 g - EAN 8034123450123</a:t>
            </a:r>
          </a:p>
          <a:p>
            <a:r>
              <a:rPr sz="1300"/>
              <a:t>• AF-SN-0455 - Snack rustico 100 g formato promo 3+1 - EAN 8034123454558</a:t>
            </a:r>
          </a:p>
          <a:p>
            <a:r>
              <a:rPr sz="1300"/>
              <a:t>• AF-FC-0330 - Focaccina olio EVO 2x90 g - EAN 8034123453308</a:t>
            </a:r>
          </a:p>
          <a:p>
            <a:r>
              <a:rPr sz="1300"/>
              <a:t>• Novità in svilupo: snack paprika e semi (AF-SN-0470, lancio previsto autunno 2026)</a:t>
            </a:r>
          </a:p>
          <a:p>
            <a:r>
              <a:rPr sz="1200"/>
              <a:t>&lt;immagine: still life referenze su tagliere&gt;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LE NOSTRE REFERENZE - CROISSANTERIA SURGELATA</a:t>
            </a:r>
          </a:p>
          <a:p>
            <a:r>
              <a:rPr sz="1300"/>
              <a:t>• AF-CR-0212 - Cornetto Premium burro 6x50 g - EAN 8034123452127 - marchio Aurora</a:t>
            </a:r>
          </a:p>
          <a:p>
            <a:r>
              <a:rPr sz="1300"/>
              <a:t>• AF-CR-0215 - Cornetto Premium PL 8x45 g - EAN 8034123452158</a:t>
            </a:r>
          </a:p>
          <a:p>
            <a:r>
              <a:rPr sz="1300"/>
              <a:t>• AF-CR-0220 - Sfogliatina bio ai cereali - EAN 8034123452202 - linea bio ICEA</a:t>
            </a:r>
          </a:p>
          <a:p>
            <a:r>
              <a:rPr sz="1300"/>
              <a:t>• Burro da filiera Latteria Bassanese, farine Molino Veneto W300</a:t>
            </a:r>
          </a:p>
          <a:p>
            <a:r>
              <a:rPr sz="1200"/>
              <a:t>&lt;immagine: cornetti in lievitazione&gt;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PRIVATE LABEL: IL NOSTRO MESTIERE</a:t>
            </a:r>
          </a:p>
          <a:p>
            <a:r>
              <a:rPr sz="1300"/>
              <a:t>• Sviluppo ricetta dedicata con il nostro R&amp;D (dott. Alberto Zanchetta)</a:t>
            </a:r>
          </a:p>
          <a:p>
            <a:r>
              <a:rPr sz="1300"/>
              <a:t>• Co-design del packaging con l'insegna</a:t>
            </a:r>
          </a:p>
          <a:p>
            <a:r>
              <a:rPr sz="1300"/>
              <a:t>• Capitolati qualità su specifica cliente</a:t>
            </a:r>
          </a:p>
          <a:p>
            <a:r>
              <a:rPr sz="1300"/>
              <a:t>• Etichettatura a norma Reg. UE 1169/2011 curata dal ns. ufficio qualità</a:t>
            </a:r>
          </a:p>
          <a:p>
            <a:r>
              <a:rPr sz="1300"/>
              <a:t>• Tracciabilità di lotto completa entro 4 ore dalla richiesta</a:t>
            </a:r>
          </a:p>
          <a:p>
            <a:r>
              <a:rPr sz="1300"/>
              <a:t>• Referenze PL attive:  "Bontà di Casa" e altri 2 marchi insegna</a:t>
            </a:r>
          </a:p>
          <a:p>
            <a:r>
              <a:rPr sz="1200"/>
              <a:t>[Note relatore: non citare mai i nomi degli altri clienti PL davanti a un buyer concorrente!!]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CASO CLIENTE - GRUPPO TOSANO</a:t>
            </a:r>
          </a:p>
          <a:p>
            <a:r>
              <a:rPr sz="1300"/>
              <a:t>• Partner dal 2017, CE.DI. di Cerea (VR)</a:t>
            </a:r>
          </a:p>
          <a:p>
            <a:r>
              <a:rPr sz="1300"/>
              <a:t>• Private label "Bontà di Casa": snack rustico multicereali + cornetto 8x45 g</a:t>
            </a:r>
          </a:p>
          <a:p>
            <a:r>
              <a:rPr sz="1300"/>
              <a:t>• Sell-out in crescita costante nei pdv Verona e Vicenza</a:t>
            </a:r>
          </a:p>
          <a:p>
            <a:r>
              <a:rPr sz="1300"/>
              <a:t>• Promo volantino primavera 2026: +226% pezzi vs settimana media</a:t>
            </a:r>
          </a:p>
          <a:p>
            <a:r>
              <a:rPr sz="1300"/>
              <a:t>• Consegne al CE.DI. 3 volte/settimana, puntualità 98,6%</a:t>
            </a:r>
          </a:p>
          <a:p>
            <a:r>
              <a:rPr sz="1200"/>
              <a:t>&lt;grafico: sell out settimanale pdv Tosano&gt;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CASO CLIENTE - INSEGNE NORD-EST</a:t>
            </a:r>
          </a:p>
          <a:p>
            <a:r>
              <a:rPr sz="1300"/>
              <a:t>• Alì S.p.A. (Padova): snack multicereali a marchio Aurora, 28 pdv riforniti</a:t>
            </a:r>
          </a:p>
          <a:p>
            <a:r>
              <a:rPr sz="1300"/>
              <a:t>• Famila Nordest: sfogliatina bio linea ICEA</a:t>
            </a:r>
          </a:p>
          <a:p>
            <a:r>
              <a:rPr sz="1300"/>
              <a:t>• Rossetto Trade: focaccina olio EVO, banco forno</a:t>
            </a:r>
          </a:p>
          <a:p>
            <a:r>
              <a:rPr sz="1300"/>
              <a:t>• 3 grossisti Ho.Re.Ca. per il canale bar/colazioni</a:t>
            </a:r>
          </a:p>
          <a:p>
            <a:r>
              <a:rPr sz="1300"/>
              <a:t>• referenze co-brandizzate in valutazioe per il 2027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TEMPLATE - CANCELLARE</a:t>
            </a:r>
          </a:p>
          <a:p>
            <a:r>
              <a:rPr sz="1200"/>
              <a:t>Titolo slide qui</a:t>
            </a:r>
          </a:p>
          <a:p>
            <a:r>
              <a:rPr sz="1300"/>
              <a:t>• bullet uno</a:t>
            </a:r>
          </a:p>
          <a:p>
            <a:r>
              <a:rPr sz="1300"/>
              <a:t>• bullet due</a:t>
            </a:r>
          </a:p>
          <a:p>
            <a:r>
              <a:rPr sz="1300"/>
              <a:t>• bullet tre</a:t>
            </a:r>
          </a:p>
          <a:p>
            <a:r>
              <a:rPr sz="1200"/>
              <a:t>&lt;immagine segnaposto&gt;</a:t>
            </a:r>
          </a:p>
          <a:p>
            <a:r>
              <a:rPr sz="1200"/>
              <a:t>[Note relatore: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LOGISTICA E SERVICE LEVEL</a:t>
            </a:r>
          </a:p>
          <a:p>
            <a:r>
              <a:rPr sz="1300"/>
              <a:t>• Flotta a temperatura controllata tramite partner: Trasporti Frigo Veneto, Logistica Zorzi, FrigoExpress Nordest</a:t>
            </a:r>
          </a:p>
          <a:p>
            <a:r>
              <a:rPr sz="1300"/>
              <a:t>• Consegna al CE.DI. entro 48h dall'ordine (fresco ATM), 72h surgelato</a:t>
            </a:r>
          </a:p>
          <a:p>
            <a:r>
              <a:rPr sz="1300"/>
              <a:t>• OTIF 2025: 98,6%</a:t>
            </a:r>
          </a:p>
          <a:p>
            <a:r>
              <a:rPr sz="1300"/>
              <a:t>• Tracciabilità EPAL e riordino automatico su tracciato EDI</a:t>
            </a:r>
          </a:p>
          <a:p>
            <a:r>
              <a:rPr sz="1300"/>
              <a:t>• Magazzino surgelato dedicato CF-02 a -18°C + sito Via Palù</a:t>
            </a:r>
          </a:p>
          <a:p>
            <a:r>
              <a:rPr sz="1200"/>
              <a:t>[Note relatore: se chiedono del picco promo dire che il capacity planning e' stato rivisto, non entrare nel dettaglio delle domeniche]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QUALITA' OPERATIVA, OGNI GIORNO</a:t>
            </a:r>
          </a:p>
          <a:p>
            <a:r>
              <a:rPr sz="1300"/>
              <a:t>• Metal detector su LINEA 1 (MD-3200) e LINEA 3 (MD-1800), verifica ogni 60 minuti con tasselli certificati</a:t>
            </a:r>
          </a:p>
          <a:p>
            <a:r>
              <a:rPr sz="1300"/>
              <a:t>• Trattamento termico monitorato in continuo con datalogger</a:t>
            </a:r>
          </a:p>
          <a:p>
            <a:r>
              <a:rPr sz="1300"/>
              <a:t>• Tamponi ambientali con laboratorio esterno Analytica Veneta (ACCREDIA n. 0987)</a:t>
            </a:r>
          </a:p>
          <a:p>
            <a:r>
              <a:rPr sz="1300"/>
              <a:t>• Gestione allergeni: glutine, latte, uova, soia, frutta a guscio, sesamo (in cross-contamination su Linea 1)</a:t>
            </a:r>
          </a:p>
          <a:p>
            <a:r>
              <a:rPr sz="1300"/>
              <a:t>• Audit clienti benvenuti: oltre 6 audit di seconda parte ospitati nel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SOSTENIBILITA'</a:t>
            </a:r>
          </a:p>
          <a:p>
            <a:r>
              <a:rPr sz="1300"/>
              <a:t>• Film MAP con spessore ridotto -12% dal 2024 (fornitore Flexipack Nordest)</a:t>
            </a:r>
          </a:p>
          <a:p>
            <a:r>
              <a:rPr sz="1300"/>
              <a:t>• Energia: 40% da fotovoltaico in copertura entro il 2027</a:t>
            </a:r>
          </a:p>
          <a:p>
            <a:r>
              <a:rPr sz="1300"/>
              <a:t>• Recupero calore dai forni FT-01/FT-02 per il riscaldamento acqua sanitaria</a:t>
            </a:r>
          </a:p>
          <a:p>
            <a:r>
              <a:rPr sz="1300"/>
              <a:t>• Farine da filiera veneta a corto raggio (Molino Veneto, Isola della Scala)</a:t>
            </a:r>
          </a:p>
          <a:p>
            <a:r>
              <a:rPr sz="1300"/>
              <a:t>• Progetto riduzione sprechi: ricollocazione eccedenze a enti caritativi locali</a:t>
            </a:r>
          </a:p>
          <a:p>
            <a:r>
              <a:rPr sz="1200"/>
              <a:t>&lt;immagine: pannelli fotovoltaici&gt;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PERCHE' SCEGLIERE AURORA</a:t>
            </a:r>
          </a:p>
          <a:p>
            <a:r>
              <a:rPr sz="1300"/>
              <a:t>• Flessibilità vera da azienda familiare, decisioni in 24 ore</a:t>
            </a:r>
          </a:p>
          <a:p>
            <a:r>
              <a:rPr sz="1300"/>
              <a:t>• Filiera corta e tracciata</a:t>
            </a:r>
          </a:p>
          <a:p>
            <a:r>
              <a:rPr sz="1300"/>
              <a:t>• Certificazioni ai massimi livelli (BRCGS AA, IFS Higher Level)</a:t>
            </a:r>
          </a:p>
          <a:p>
            <a:r>
              <a:rPr sz="1300"/>
              <a:t>• Un unico interlocutore commerciale dedicato per insegna</a:t>
            </a:r>
          </a:p>
          <a:p>
            <a:r>
              <a:rPr sz="1300"/>
              <a:t>• Capacità di sviluppo private label completa, dalla ricetta allo scaffale</a:t>
            </a:r>
          </a:p>
          <a:p>
            <a:r>
              <a:rPr sz="1200"/>
              <a:t>-</a:t>
            </a:r>
          </a:p>
          <a:p>
            <a:r>
              <a:rPr sz="1200"/>
              <a:t>[Note relatore: chiudere qui se il tempo stringe, le slide 19-20 solo se chiedono]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PROGETTI 2026-2027</a:t>
            </a:r>
          </a:p>
          <a:p>
            <a:r>
              <a:rPr sz="1300"/>
              <a:t>• Nuovo tunnel di surgelazione a spirale Criotech CR-SP180: +40% capacità LINEA 3</a:t>
            </a:r>
          </a:p>
          <a:p>
            <a:r>
              <a:rPr sz="1300"/>
              <a:t>• Valutazione nuovo sito produttivo "Aurora Vega" a Minerbe (VR)</a:t>
            </a:r>
          </a:p>
          <a:p>
            <a:r>
              <a:rPr sz="1300"/>
              <a:t>• Digitalizzazione archivio qualita' e documentale</a:t>
            </a:r>
          </a:p>
          <a:p>
            <a:r>
              <a:rPr sz="1300"/>
              <a:t>• Nuova referenza snack paprika e semi in test consumer</a:t>
            </a:r>
          </a:p>
          <a:p>
            <a:r>
              <a:rPr sz="1300"/>
              <a:t>• Estensione gamma bio linea 2</a:t>
            </a:r>
          </a:p>
          <a:p>
            <a:r>
              <a:rPr sz="1200"/>
              <a:t>&lt;immagine: rendering tunnel spirale&gt;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CONTATTI</a:t>
            </a:r>
          </a:p>
          <a:p>
            <a:r>
              <a:rPr sz="1200"/>
              <a:t>Aurora Food Group S.r.l.</a:t>
            </a:r>
          </a:p>
          <a:p>
            <a:r>
              <a:rPr sz="1200"/>
              <a:t>Via dell'Industria 27 - 37044 Cologna Veneta (VR)</a:t>
            </a:r>
          </a:p>
          <a:p>
            <a:r>
              <a:rPr sz="1200"/>
              <a:t>Tel. 0442 85 41 22 - info@aurorafoodgroup.it</a:t>
            </a:r>
          </a:p>
          <a:p>
            <a:r>
              <a:rPr sz="1200"/>
              <a:t>www.aurorafoodgroup.it - PEC: aurorafoodgroup@pec.it</a:t>
            </a:r>
          </a:p>
          <a:p>
            <a:r>
              <a:rPr sz="1200"/>
              <a:t>P.IVA 03984710230</a:t>
            </a:r>
          </a:p>
          <a:p>
            <a:r>
              <a:rPr sz="1200"/>
              <a:t>Direzione Commerciale: Silvia Bertoldi</a:t>
            </a:r>
          </a:p>
          <a:p>
            <a:r>
              <a:rPr sz="1200"/>
              <a:t>Agente Nord-Est: Paolo Zampieri</a:t>
            </a:r>
          </a:p>
          <a:p>
            <a:r>
              <a:rPr sz="1200"/>
              <a:t>GRAZIE PER L'ATTENZIONE</a:t>
            </a:r>
          </a:p>
          <a:p>
            <a:r>
              <a:rPr sz="1200"/>
              <a:t>[Note relatore: lasciare sempre la scheda referenze stampata, la versione aggiornata è quella di marzo NON quella sul server]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Aurora Food Group S.r.l.</Company>
  <AppVersion>16.0300</AppVersion>
  <TotalTime>365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commerciale Aurora GDO 2026</dc:title>
  <dc:creator>Paolo Zampieri</dc:creator>
  <cp:lastModifiedBy>Silvia Bertoldi</cp:lastModifiedBy>
  <cp:revision>27</cp:revision>
  <dc:description/>
  <dcterms:created xsi:type="dcterms:W3CDTF">2025-11-18T13:44:18Z</dcterms:created>
  <dcterms:modified xsi:type="dcterms:W3CDTF">2026-03-11T14:44:18Z</dcterms:modified>
  <cp:company>Aurora Food Group S.r.l.</cp:company>
</cp:coreProperties>
</file>