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AURORA FOOD GROUP S.r.l.</a:t>
            </a:r>
          </a:p>
          <a:p>
            <a:r>
              <a:rPr sz="1200"/>
              <a:t>NUOVA REFERENZA SNACK SALATO</a:t>
            </a:r>
          </a:p>
          <a:p>
            <a:r>
              <a:rPr sz="1200"/>
              <a:t>AF-SN-0470 "Paprika Affumicata e Semi"</a:t>
            </a:r>
          </a:p>
          <a:p>
            <a:r>
              <a:rPr sz="1200"/>
              <a:t>Business case per delibera CdA</a:t>
            </a:r>
          </a:p>
          <a:p>
            <a:r>
              <a:rPr sz="1200"/>
              <a:t>Bozza v3 - riservato - non distribuire</a:t>
            </a:r>
          </a:p>
          <a:p>
            <a:r>
              <a:rPr sz="1200"/>
              <a:t>Relatori: S. Bertoldi / A. Zanchetta / L. Trentin</a:t>
            </a:r>
          </a:p>
          <a:p>
            <a:r>
              <a:rPr sz="1200"/>
              <a:t>[data da inserire - CdA di giugno?]</a:t>
            </a:r>
          </a:p>
          <a:p>
            <a:r>
              <a:rPr sz="1200"/>
              <a:t>&lt;logo&gt;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AGENDA</a:t>
            </a:r>
          </a:p>
          <a:p>
            <a:r>
              <a:rPr sz="1300"/>
              <a:t>• Il mercato dello snack salato in Italia</a:t>
            </a:r>
          </a:p>
          <a:p>
            <a:r>
              <a:rPr sz="1300"/>
              <a:t>• Il prodotto</a:t>
            </a:r>
          </a:p>
          <a:p>
            <a:r>
              <a:rPr sz="1300"/>
              <a:t>• Benchmark competitor</a:t>
            </a:r>
          </a:p>
          <a:p>
            <a:r>
              <a:rPr sz="1300"/>
              <a:t>• Posizionamento prezzo</a:t>
            </a:r>
          </a:p>
          <a:p>
            <a:r>
              <a:rPr sz="1300"/>
              <a:t>• Investimenti richiesti</a:t>
            </a:r>
          </a:p>
          <a:p>
            <a:r>
              <a:rPr sz="1300"/>
              <a:t>• Conto economico e break-even</a:t>
            </a:r>
          </a:p>
          <a:p>
            <a:r>
              <a:rPr sz="1300"/>
              <a:t>• Timing</a:t>
            </a:r>
          </a:p>
          <a:p>
            <a:r>
              <a:rPr sz="1300"/>
              <a:t>• Rischi</a:t>
            </a:r>
          </a:p>
          <a:p>
            <a:r>
              <a:rPr sz="1300"/>
              <a:t>• Richiesta di delibera</a:t>
            </a:r>
          </a:p>
          <a:p>
            <a:r>
              <a:rPr sz="1200"/>
              <a:t>Nota relatore: tenere sotto i 25 minuti TOTALI, il CdA ha dopo il punto banche.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IL MERCATO: SNACK SALATO DA FORNO IN ITALIA</a:t>
            </a:r>
          </a:p>
          <a:p>
            <a:r>
              <a:rPr sz="1300"/>
              <a:t>• mercato totale salty snack Italia: ~2,4 mld euro (fonte: dati Circana da rielaborare)</a:t>
            </a:r>
          </a:p>
          <a:p>
            <a:r>
              <a:rPr sz="1300"/>
              <a:t>• segmento "snack da forno" (no patatine, no estrusi): ~410 mln euro</a:t>
            </a:r>
          </a:p>
          <a:p>
            <a:r>
              <a:rPr sz="1300"/>
              <a:t>• crescita segmento ultimi 3 anni: +5,8% medio annuo</a:t>
            </a:r>
          </a:p>
          <a:p>
            <a:r>
              <a:rPr sz="1300"/>
              <a:t>• driver: convenience, "meno fritto", ricette rustiche/mediterranee</a:t>
            </a:r>
          </a:p>
          <a:p>
            <a:r>
              <a:rPr sz="1300"/>
              <a:t>• private label nel segmento: quota 31% e in crescita</a:t>
            </a:r>
          </a:p>
          <a:p>
            <a:r>
              <a:rPr sz="1300"/>
              <a:t>• il gusto "affumicato/paprika" e' il 2° a maggior crescita nei lanci EU 2024-25</a:t>
            </a:r>
          </a:p>
          <a:p>
            <a:r>
              <a:rPr sz="1200"/>
              <a:t>(fonte: Innova, dal report che ha girato Zanchetta)</a:t>
            </a:r>
          </a:p>
          <a:p>
            <a:r>
              <a:rPr sz="1200"/>
              <a:t>&lt;grafico: torta segmenti - dati dal file Excel di Trentin&gt;</a:t>
            </a:r>
          </a:p>
          <a:p>
            <a:r>
              <a:rPr sz="1200"/>
              <a:t>Nota relatore: se chiedono la fonte dei 410 mln dire che e' una ns. stima su dati</a:t>
            </a:r>
          </a:p>
          <a:p>
            <a:r>
              <a:rPr sz="1200"/>
              <a:t>Circana + Nielsen, NON abbiamo comprato il report completo.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IL PRODOTTO</a:t>
            </a:r>
          </a:p>
          <a:p>
            <a:r>
              <a:rPr sz="1200"/>
              <a:t>AF-SN-0470 - snack salato paprika affumicata e semi (girasole, lino)</a:t>
            </a:r>
          </a:p>
          <a:p>
            <a:r>
              <a:rPr sz="1300"/>
              <a:t>• formato: 100 g flow-pack ATM, linea 1 (stessa tecnologia AF-SN-0450)</a:t>
            </a:r>
          </a:p>
          <a:p>
            <a:r>
              <a:rPr sz="1300"/>
              <a:t>• ricetta sviluppata da R&amp;D - versione v12 in finalizzazione</a:t>
            </a:r>
          </a:p>
          <a:p>
            <a:r>
              <a:rPr sz="1300"/>
              <a:t>• plus: paprika affumicata spagnola "La Vera", cottura in forno tunnel, ATM senza</a:t>
            </a:r>
          </a:p>
          <a:p>
            <a:r>
              <a:rPr sz="1200"/>
              <a:t>conservanti</a:t>
            </a:r>
          </a:p>
          <a:p>
            <a:r>
              <a:rPr sz="1300"/>
              <a:t>• opzione premium in valutazione: aggiunta sesamo (+gradimento panel) - vincoli</a:t>
            </a:r>
          </a:p>
          <a:p>
            <a:r>
              <a:rPr sz="1200"/>
              <a:t>gestione allergeni su Linea 1 in corso di valutazione con Qualita'</a:t>
            </a:r>
          </a:p>
          <a:p>
            <a:r>
              <a:rPr sz="1300"/>
              <a:t>• shelf life target: 6 mesi (da validare)</a:t>
            </a:r>
          </a:p>
          <a:p>
            <a:r>
              <a:rPr sz="1200"/>
              <a:t>&lt;immagine: render pack - in arrivo da agenzia&gt;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BENCHMARK COMPETITOR (scaffale GDO nord-est, rilievi aprile 2026)</a:t>
            </a:r>
          </a:p>
          <a:p>
            <a:r>
              <a:rPr sz="1300"/>
              <a:t>• leader A (multinazionale): 120 g, prezzo scaffale 2,29 - promo frequente a 1,79</a:t>
            </a:r>
          </a:p>
          <a:p>
            <a:r>
              <a:rPr sz="1300"/>
              <a:t>• leader B (forno italiano): 150 g, 2,49 - posizionamento "artigianale"</a:t>
            </a:r>
          </a:p>
          <a:p>
            <a:r>
              <a:rPr sz="1300"/>
              <a:t>• PL insegna premium: 100 g, 1,49</a:t>
            </a:r>
          </a:p>
          <a:p>
            <a:r>
              <a:rPr sz="1300"/>
              <a:t>• PL insegna primo prezzo: 100 g, 0,99</a:t>
            </a:r>
          </a:p>
          <a:p>
            <a:r>
              <a:rPr sz="1300"/>
              <a:t>• nessun competitor con paprika affumicata + semi nel canale super: SPAZIO BIANCO</a:t>
            </a:r>
          </a:p>
          <a:p>
            <a:r>
              <a:rPr sz="1200"/>
              <a:t>&lt;grafico: mappa prezzo/posizionamento - dati dal file Excel di Trentin&gt;</a:t>
            </a:r>
          </a:p>
          <a:p>
            <a:r>
              <a:rPr sz="1200"/>
              <a:t>Nota relatore: qui Silvia parla del cliente principale e della sua richiesta di</a:t>
            </a:r>
          </a:p>
          <a:p>
            <a:r>
              <a:rPr sz="1200"/>
              <a:t>esclusiva 6 mesi sul gusto per il canale (da NON scrivere nella slide).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POSIZIONAMENTO PREZZO PROPOSTO</a:t>
            </a:r>
          </a:p>
          <a:p>
            <a:r>
              <a:rPr sz="1300"/>
              <a:t>• prezzo scaffale target (marchio Aurora): 1,89 euro / 100 g</a:t>
            </a:r>
          </a:p>
          <a:p>
            <a:r>
              <a:rPr sz="1300"/>
              <a:t>• prezzo cessione GDO marchio Aurora: 1,12 euro/pz</a:t>
            </a:r>
          </a:p>
          <a:p>
            <a:r>
              <a:rPr sz="1300"/>
              <a:t>• prezzo cessione private label (se richiesto): 0,89 euro/pz</a:t>
            </a:r>
          </a:p>
          <a:p>
            <a:r>
              <a:rPr sz="1300"/>
              <a:t>• sconto merce 2% + contributo promozionale come da accordi quadro in essere</a:t>
            </a:r>
          </a:p>
          <a:p>
            <a:r>
              <a:rPr sz="1300"/>
              <a:t>• margine industriale target: 32% a volumi di regime</a:t>
            </a:r>
          </a:p>
          <a:p>
            <a:r>
              <a:rPr sz="1200"/>
              <a:t>Nota relatore: ATTENZIONE i numeri di margine qui sono ancora quelli di marzo,</a:t>
            </a:r>
          </a:p>
          <a:p>
            <a:r>
              <a:rPr sz="1200"/>
              <a:t>Trentin dice che con paprika a listino pieno e energia attuale il 32 diventa 28-29.</a:t>
            </a:r>
          </a:p>
          <a:p>
            <a:r>
              <a:rPr sz="1200"/>
              <a:t>DA ALLINEARE PRIMA DEL CDA. Vedi anche slide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VOLUMI PREVISTI (pezzi/anno)</a:t>
            </a:r>
          </a:p>
          <a:p>
            <a:r>
              <a:rPr sz="1200"/>
              <a:t>anno 1: 280.000 pz (di cui 60% marchio Aurora, 40% PL)</a:t>
            </a:r>
          </a:p>
          <a:p>
            <a:r>
              <a:rPr sz="1200"/>
              <a:t>anno 2: 420.000 pz</a:t>
            </a:r>
          </a:p>
          <a:p>
            <a:r>
              <a:rPr sz="1200"/>
              <a:t>anno 3: 550.000 pz</a:t>
            </a:r>
          </a:p>
          <a:p>
            <a:r>
              <a:rPr sz="1300"/>
              <a:t>• ipotesi distribuzione anno 1: cliente principale + Ali' + Famila + Ho.Re.Ca.</a:t>
            </a:r>
          </a:p>
          <a:p>
            <a:r>
              <a:rPr sz="1300"/>
              <a:t>• NB: il commerciale nel suo file indica anno 1 = 350.000 pz. La differenza sta</a:t>
            </a:r>
          </a:p>
          <a:p>
            <a:r>
              <a:rPr sz="1200"/>
              <a:t>nell'ipotesi di partenza della PL (settembre vs gennaio). QUI USIAMO LO SCENARIO</a:t>
            </a:r>
          </a:p>
          <a:p>
            <a:r>
              <a:rPr sz="1200"/>
              <a:t>PRUDENTE.</a:t>
            </a:r>
          </a:p>
          <a:p>
            <a:r>
              <a:rPr sz="1200"/>
              <a:t>&lt;grafico: volumi 3 anni - dati dal file Excel di Trentin&gt;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INVESTIMENTI RICHIESTI</a:t>
            </a:r>
          </a:p>
          <a:p>
            <a:r>
              <a:rPr sz="1300"/>
              <a:t>• stampi/formatura pezzatura nuova linea 1:            18.500</a:t>
            </a:r>
          </a:p>
          <a:p>
            <a:r>
              <a:rPr sz="1300"/>
              <a:t>• dosatore semi in continuo su formatrice:             24.000</a:t>
            </a:r>
          </a:p>
          <a:p>
            <a:r>
              <a:rPr sz="1300"/>
              <a:t>• modifiche aspirazione zona spezie (paprika volatile): 9.800</a:t>
            </a:r>
          </a:p>
          <a:p>
            <a:r>
              <a:rPr sz="1300"/>
              <a:t>• cilindro/attrezzatura sfoglia (opzione):              6.200</a:t>
            </a:r>
          </a:p>
          <a:p>
            <a:r>
              <a:rPr sz="1300"/>
              <a:t>• grafica, fustelle, avviamento film (F0044):          11.500</a:t>
            </a:r>
          </a:p>
          <a:p>
            <a:r>
              <a:rPr sz="1300"/>
              <a:t>• pratiche, etichettatura, consulenze:                  4.000</a:t>
            </a:r>
          </a:p>
          <a:p>
            <a:r>
              <a:rPr sz="1300"/>
              <a:t>• TOTALE CAPEX:                                        74.000 euro</a:t>
            </a:r>
          </a:p>
          <a:p>
            <a:r>
              <a:rPr sz="1300"/>
              <a:t>• + listing fee eventuali nuovi inserimenti GDO: 12.000 (richiesta gia' pervenuta</a:t>
            </a:r>
          </a:p>
          <a:p>
            <a:r>
              <a:rPr sz="1200"/>
              <a:t>dal cliente principale per ALTRA referenza - prudenzialmente prevedere analoga</a:t>
            </a:r>
          </a:p>
          <a:p>
            <a:r>
              <a:rPr sz="1200"/>
              <a:t>richiesta anche su 0470)</a:t>
            </a:r>
          </a:p>
          <a:p>
            <a:r>
              <a:rPr sz="1200"/>
              <a:t>Nota relatore: NON confondere con il CapEx tunnel Criotech (linea 3, delibera 2025,</a:t>
            </a:r>
          </a:p>
          <a:p>
            <a:r>
              <a:rPr sz="1200"/>
              <a:t>gia' in corso) - se il CdA li somma viene fuori un discorso cassa che a giugno e'</a:t>
            </a:r>
          </a:p>
          <a:p>
            <a:r>
              <a:rPr sz="1200"/>
              <a:t>meglio non aprire. Tenerli SEPARATI.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CONTO ECONOMICO DI PRODOTTO (euro/pz, scenario marchio Aurora)</a:t>
            </a:r>
          </a:p>
          <a:p>
            <a:r>
              <a:rPr sz="1200"/>
              <a:t>ricavo netto cessione:            1,05</a:t>
            </a:r>
          </a:p>
          <a:p>
            <a:r>
              <a:rPr sz="1200"/>
              <a:t>ingredienti:                      0,26</a:t>
            </a:r>
          </a:p>
          <a:p>
            <a:r>
              <a:rPr sz="1200"/>
              <a:t>(di cui caratterizzanti 0,07)</a:t>
            </a:r>
          </a:p>
          <a:p>
            <a:r>
              <a:rPr sz="1200"/>
              <a:t>film + confezionamento:           0,09</a:t>
            </a:r>
          </a:p>
          <a:p>
            <a:r>
              <a:rPr sz="1200"/>
              <a:t>energia + utilities:              0,08</a:t>
            </a:r>
          </a:p>
          <a:p>
            <a:r>
              <a:rPr sz="1200"/>
              <a:t>manodopera diretta:               0,14</a:t>
            </a:r>
          </a:p>
          <a:p>
            <a:r>
              <a:rPr sz="1200"/>
              <a:t>ammortamenti dedicati:            0,04</a:t>
            </a:r>
          </a:p>
          <a:p>
            <a:r>
              <a:rPr sz="1200"/>
              <a:t>logistica:                        0,07</a:t>
            </a:r>
          </a:p>
          <a:p>
            <a:r>
              <a:rPr sz="1200"/>
              <a:t>costo pieno industriale:          0,68</a:t>
            </a:r>
          </a:p>
          <a:p>
            <a:r>
              <a:rPr sz="1200"/>
              <a:t>margine industriale:              0,37 = 35%</a:t>
            </a:r>
          </a:p>
          <a:p>
            <a:r>
              <a:rPr sz="1300"/>
              <a:t>• ATTENZIONE: tabella da rifare con i costi aggiornati (vedi nota slide 6: 28-32%</a:t>
            </a:r>
          </a:p>
          <a:p>
            <a:r>
              <a:rPr sz="1200"/>
              <a:t>a seconda dello scenario paprika/energia). Il 35% qui viene dal primo giro di</a:t>
            </a:r>
          </a:p>
          <a:p>
            <a:r>
              <a:rPr sz="1200"/>
              <a:t>marzo di Zanchetta. tre numeri diversi in tre file = figuraccia col CdA, ALLINEARE.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BREAK-EVEN</a:t>
            </a:r>
          </a:p>
          <a:p>
            <a:r>
              <a:rPr sz="1300"/>
              <a:t>• contribuzione media ponderata (Aurora+PL): 0,31 euro/pz  [da ricalcolare, cfr slide 9]</a:t>
            </a:r>
          </a:p>
          <a:p>
            <a:r>
              <a:rPr sz="1300"/>
              <a:t>• costi fissi incrementali anno (ammort. + lancio + listing): ~52.000 euro</a:t>
            </a:r>
          </a:p>
          <a:p>
            <a:r>
              <a:rPr sz="1300"/>
              <a:t>• BREAK-EVEN VOLUME: ~168.000 pz/anno</a:t>
            </a:r>
          </a:p>
          <a:p>
            <a:r>
              <a:rPr sz="1300"/>
              <a:t>• raggiungibile in: 8-10 mesi dallo scaffale (scenario prudente slide 7)</a:t>
            </a:r>
          </a:p>
          <a:p>
            <a:r>
              <a:rPr sz="1300"/>
              <a:t>• payback CAPEX: entro fine anno 2</a:t>
            </a:r>
          </a:p>
          <a:p>
            <a:r>
              <a:rPr sz="1200"/>
              <a:t>&lt;grafico: break-even - dati dal file Excel di Trentin&gt;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TIMING PROPOSTO</a:t>
            </a:r>
          </a:p>
          <a:p>
            <a:r>
              <a:rPr sz="1300"/>
              <a:t>• giugno 2026: delibera CdA + conferma ricetta v12 (o v13 con sesamo)</a:t>
            </a:r>
          </a:p>
          <a:p>
            <a:r>
              <a:rPr sz="1300"/>
              <a:t>• luglio: ordine attrezzature, qualifica fornitore paprika completata, prove</a:t>
            </a:r>
          </a:p>
          <a:p>
            <a:r>
              <a:rPr sz="1200"/>
              <a:t>industriali su linea 1</a:t>
            </a:r>
          </a:p>
          <a:p>
            <a:r>
              <a:rPr sz="1300"/>
              <a:t>• agosto: shelf life test avviato, grafica esecutiva</a:t>
            </a:r>
          </a:p>
          <a:p>
            <a:r>
              <a:rPr sz="1300"/>
              <a:t>• settembre: presentazione alle insegne (finestra assortimenti gennaio)</a:t>
            </a:r>
          </a:p>
          <a:p>
            <a:r>
              <a:rPr sz="1300"/>
              <a:t>• ottobre-novembre: pre-serie, referenziazione</a:t>
            </a:r>
          </a:p>
          <a:p>
            <a:r>
              <a:rPr sz="1300"/>
              <a:t>• gennaio 2027: A SCAFFALE</a:t>
            </a:r>
          </a:p>
          <a:p>
            <a:r>
              <a:rPr sz="1300"/>
              <a:t>• rischio timing: la finestra assortimenti di gennaio si prenota a settembre.</a:t>
            </a:r>
          </a:p>
          <a:p>
            <a:r>
              <a:rPr sz="1200"/>
              <a:t>Se slitta la delibera, slitta tutto di 6 mesi (finestra successiva: giugno 27).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RISCHI E MITIGAZIONI</a:t>
            </a:r>
          </a:p>
          <a:p>
            <a:r>
              <a:rPr sz="1300"/>
              <a:t>• fornitura paprika: mono-fornitore in qualifica -&gt; mitigazione: secondo fornitore</a:t>
            </a:r>
          </a:p>
          <a:p>
            <a:r>
              <a:rPr sz="1200"/>
              <a:t>da qualificare entro anno 1; controanalisi Sudan/ETO su ogni lotto</a:t>
            </a:r>
          </a:p>
          <a:p>
            <a:r>
              <a:rPr sz="1300"/>
              <a:t>• allergene sesamo (opzione premium): richiede lavaggio validato e sequenza</a:t>
            </a:r>
          </a:p>
          <a:p>
            <a:r>
              <a:rPr sz="1200"/>
              <a:t>produzione su L1 -&gt; mitigazione: lancio SENZA sesamo, upgrade ricetta anno 2</a:t>
            </a:r>
          </a:p>
          <a:p>
            <a:r>
              <a:rPr sz="1300"/>
              <a:t>• saturazione linea 1: gia' oggi la linea lavora a 6 giorni nei picchi promo -&gt;</a:t>
            </a:r>
          </a:p>
          <a:p>
            <a:r>
              <a:rPr sz="1200"/>
              <a:t>mitigazione: pianificazione trimestrale con commerciale; nel medio periodo il</a:t>
            </a:r>
          </a:p>
          <a:p>
            <a:r>
              <a:rPr sz="1200"/>
              <a:t>tema capacita' si risolve solo con [progetto riservato - slide backup]</a:t>
            </a:r>
          </a:p>
          <a:p>
            <a:r>
              <a:rPr sz="1300"/>
              <a:t>• pressione prezzo del cliente principale sul listino 26/27: in trattativa,</a:t>
            </a:r>
          </a:p>
          <a:p>
            <a:r>
              <a:rPr sz="1200"/>
              <a:t>scenario peggiorativo -4,5% impatterebbe il margine di cat. anche su 0470</a:t>
            </a:r>
          </a:p>
          <a:p>
            <a:r>
              <a:rPr sz="1300"/>
              <a:t>• clima qualita': un reclamo in gestione su altra referenza linea 1 (maggio) -</a:t>
            </a:r>
          </a:p>
          <a:p>
            <a:r>
              <a:rPr sz="1200"/>
              <a:t>nessuna correlazione col progetto ma attenzione alla comunicazione verso le</a:t>
            </a:r>
          </a:p>
          <a:p>
            <a:r>
              <a:rPr sz="1200"/>
              <a:t>insegne nelle stesse settimane</a:t>
            </a:r>
          </a:p>
          <a:p>
            <a:r>
              <a:rPr sz="1200"/>
              <a:t>Nota relatore: il punto reclamo lo dice SOLO Silvia e SOLO se chiedono. Non aprire.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RICHIESTA DI DELIBERA</a:t>
            </a:r>
          </a:p>
          <a:p>
            <a:r>
              <a:rPr sz="1200"/>
              <a:t>Si chiede al CdA di deliberare:</a:t>
            </a:r>
          </a:p>
          <a:p>
            <a:r>
              <a:rPr sz="1200"/>
              <a:t>1. approvazione business case referenza AF-SN-0470</a:t>
            </a:r>
          </a:p>
          <a:p>
            <a:r>
              <a:rPr sz="1200"/>
              <a:t>2. CAPEX fino a 74.000 euro come da slide 8</a:t>
            </a:r>
          </a:p>
          <a:p>
            <a:r>
              <a:rPr sz="1200"/>
              <a:t>3. budget lancio/listing fino a 15.000 euro</a:t>
            </a:r>
          </a:p>
          <a:p>
            <a:r>
              <a:rPr sz="1200"/>
              <a:t>4. mandato alla Direzione Commerciale per la trattativa di referenziazione</a:t>
            </a:r>
          </a:p>
          <a:p>
            <a:r>
              <a:rPr sz="1200"/>
              <a:t>5. mandato a R&amp;D/Qualita' per finalizzazione ricetta e qualifica fornitori</a:t>
            </a:r>
          </a:p>
          <a:p>
            <a:r>
              <a:rPr sz="1200"/>
              <a:t>votazione richiesta entro la seduta per rispettare la finestra di settembre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GRAZIE PER L'ATTENZZIONE</a:t>
            </a:r>
          </a:p>
          <a:p>
            <a:r>
              <a:rPr sz="1200"/>
              <a:t>domande?</a:t>
            </a:r>
          </a:p>
          <a:p>
            <a:r>
              <a:rPr sz="1200"/>
              <a:t>contatti: s.bertoldi@aurorafoodgroup.it - a.zanchetta@aurorafoodgroup.it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BACKUP - CAPACITA' PRODUTTIVA LINEA 1</a:t>
            </a:r>
          </a:p>
          <a:p>
            <a:r>
              <a:rPr sz="1300"/>
              <a:t>• capacita' teorica L1: 1.450 kg/turno prodotto finito</a:t>
            </a:r>
          </a:p>
          <a:p>
            <a:r>
              <a:rPr sz="1300"/>
              <a:t>• saturazione media 2026 (gen-apr): 71% su 2 turni</a:t>
            </a:r>
          </a:p>
          <a:p>
            <a:r>
              <a:rPr sz="1300"/>
              <a:t>• con 0470 a regime anno 2: 78% -&gt; ok MA i picchi promo del cliente principale</a:t>
            </a:r>
          </a:p>
          <a:p>
            <a:r>
              <a:rPr sz="1200"/>
              <a:t>gia' oggi portano sabati lavorativi</a:t>
            </a:r>
          </a:p>
          <a:p>
            <a:r>
              <a:rPr sz="1300"/>
              <a:t>• scenario "Aurora Vega" (nuovo stabilimento Minerbe): raddoppio capacita' forno,</a:t>
            </a:r>
          </a:p>
          <a:p>
            <a:r>
              <a:rPr sz="1200"/>
              <a:t>orizzonte 2028 - dossier separato del Presidente, NON in delibera oggi</a:t>
            </a:r>
          </a:p>
          <a:p>
            <a:r>
              <a:rPr sz="1200"/>
              <a:t>&lt;grafico: saturazione mensile - dati dal file Excel di Trentin&gt;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BACKUP - DETTAGLIO ASSUNZIONI VOLUMI</a:t>
            </a:r>
          </a:p>
          <a:p>
            <a:r>
              <a:rPr sz="1300"/>
              <a:t>• sell-out atteso per punto vendita: 9-11 pz/settimana (benchmark cat. affini)</a:t>
            </a:r>
          </a:p>
          <a:p>
            <a:r>
              <a:rPr sz="1300"/>
              <a:t>• ipotesi punti vendita serviti anno 1: 420 (cliente principale 190, Ali' 110,</a:t>
            </a:r>
          </a:p>
          <a:p>
            <a:r>
              <a:rPr sz="1200"/>
              <a:t>Famila 85, altri 35)</a:t>
            </a:r>
          </a:p>
          <a:p>
            <a:r>
              <a:rPr sz="1300"/>
              <a:t>• conto: 420 pdv x 10 pz x 52 sett = 218.400 pz sell-out anno 1</a:t>
            </a:r>
          </a:p>
          <a:p>
            <a:r>
              <a:rPr sz="1300"/>
              <a:t>• + Ho.Re.Ca. e ricarichi filiera -&gt; coerente con 280.000 sell-in? DA VERIFICARE,</a:t>
            </a:r>
          </a:p>
          <a:p>
            <a:r>
              <a:rPr sz="1200"/>
              <a:t>il commerciale arriva a 350.000 con 520 pdv. Chi ha ragione? portare entrambe</a:t>
            </a:r>
          </a:p>
          <a:p>
            <a:r>
              <a:rPr sz="1200"/>
              <a:t>le ipotesi con range.</a:t>
            </a:r>
          </a:p>
          <a:p>
            <a:r>
              <a:rPr sz="1300"/>
              <a:t>• stagionalita' attesa: picco aperitivo maggio-settembre (+22%)</a:t>
            </a:r>
          </a:p>
          <a:p>
            <a:r>
              <a:rPr sz="1200"/>
              <a:t>[fine presentazione - slide note esportate dove presenti]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Aurora Food Group S.r.l.</Company>
  <AppVersion>16.0300</AppVersion>
  <TotalTime>160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bozza presentazione nuova linea snack CDA</dc:title>
  <dc:creator>Alberto Zanchetta</dc:creator>
  <cp:lastModifiedBy>Silvia Bertoldi</cp:lastModifiedBy>
  <cp:revision>10</cp:revision>
  <dc:description/>
  <dcterms:created xsi:type="dcterms:W3CDTF">2025-12-31T03:22:05Z</dcterms:created>
  <dcterms:modified xsi:type="dcterms:W3CDTF">2026-05-26T19:22:05Z</dcterms:modified>
  <cp:company>Aurora Food Group S.r.l.</cp:company>
</cp:coreProperties>
</file>