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da 45 minuti + test da 15. Parlare LENTO, in sala ci sono colleghi che l'italiano lo stanno ancora imparando. Le slide sono volutamente semplici: la teoria estesa sta nel piano allergeni, qui serve che restino 5 concetti. Fare l'appello sul MOD-HR-11 subito, l'anno scorso in tre hanno firmato senza essere entrati.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Partire con la storia vera del ragazzo morto nel Regno Unito per il sesamo non dichiarato nel panino (caso Natasha, 2016). La racconto a voce, senza slide: funziona più di dieci grafici.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Precisare la differenza con l'intolleranza (es. lattosio): l'intollerante sta male, l'allergico rischia la vita. Non entrare troppo nel medico, il messaggio è: non possiamo sapere chi mangerà il nostro snack, quindi l'etichetta deve dire la verità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6 in MAIUSCOLO sono i NOSTRI: glutine, uova, soia, latte, frutta a guscio, sesamo. Il sesamo è nuovo: arriva con il prototipo AF-SN-0470 paprika e semi che R&amp;D sta sviluppando. Quando andrà in produzione sulla Linea 1 cambierà la sequenza di produzione: lo dico oggi così nessuno cade dalle nuvole. "Non presente" NON vuol dire "impossibile": vuol dire che oggi non lo compriamo.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Sulla piantina far vedere che la Linea 2 (croissanteria: latte, uova, frutta a guscio) è la zona più "carica" di allergeni e la Linea 1 lavora prodotti dove alcuni di questi NON ci devono essere. Il passaggio di persone e carrelli tra le due linee è il punto debole vero del nostro layout. Esempio concreto: il carrello della granella parcheggiato vicino al nastro degli snack, foto scattata a gennaio, farla vedere e chiedere "cosa c'è di sbagliato qui?"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Insistere: la sequenza sul piano di produzione non è un consiglio, è una barriera di sicurezza come il metal detector. Se la produzione "senza" finisce dopo quella "con", il lavaggio intermedio è OBBLIGATORIO e va registrato. Raccontare il quasi-incidente di novembre: sequenza invertita per recuperare un ordine urgente, fermato tutto dal capoturno, bravo lui — è ESATTAMENTE il comportamento che vogliamo.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riga barrata lasciarla vedere apposta: era la vecchia regola e qualcuno se la ricorda ancora. Da quest'anno NO congelamento del rework, decisione presa col consulente dopo l'analisi dei rischi: troppi contenitori anonimi in cella CF-01. Dirlo chiaro: non è che prima si sbagliava, è che abbiamo alzato l'asticella.</a:t>
            </a:r>
          </a:p>
          <a:p>
            <a:r>
              <a:t>Vicentini C. - bene lasciare il barrato come "prima/dopo", ma a voce sottolineate che fa fede la rev. attuale del piano allergeni, non le slide dell'anno scorso che girano ancora in bacheca. Farle togliere.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L'aria compressa è l'errore che vedo ancora: veloce, comodo, e sparge farina (=glutine) su tre metri di raggio. Dire che i tamponi post-pulizia di Sara includono anche la ricerca allergeni (proteina del latte) sui punti critici della Linea 2, non solo la carica batterica: non è per controllarvi, è per dimostrare ai clienti che il sistema funziona.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caso da citare: metà dei richiami pubblicati sul portale del Ministero è per allergeni non dichiarati in etichetta, più che per i corpi estranei. Il controllo di corrispondenza film/prodotto a inizio produzione e a ogni cambio bobina è registrato sul modulo di linea, con seconda firma del capoturno come per i CCP.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è LA slide della formazione, se resta solo una che sia questa. Raccontare che la direzione ha firmato l'impegno nero su bianco (Politica 2026, è in bacheca). Collegarlo alla cultura della sicurezza alimentare del BRCGS ma senza citare la norma: a chi impasta alle 5 di mattina della clausola 1.1.2 non importa niente, importa sapere che se ferma la linea per un dubbio nessuno gli urla dietro.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cartello dell'immagine esiste stampato in A3: dopo il corso appenderlo alle bacheche delle tre linee al posto di quello vecchio del 2024 (che NON ha il sesamo). Consegnarne copia piegata a ognuno con l'attestato.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 V, 2 F (il latte è soprattutto Linea 2: burro e panna), 3 F, 4 F, 5 V, 6 F, 7 V, 8 F (si dice SUBITO). Soglia di superamento: 6 su 8. Chi non passa rifà il modulo con me la settimana dopo, in forma orale se c'è di mezzo la lingua: l'obiettivo è che abbia capito, non che sappia leggere in fretta. Esiti sul MOD-HR-11.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ricordando la data del recupero per gli assenti PRIMA di sciogliere l'aula, sennò tocca rincorrerli uno a uno come l'anno scorso. Attestati: li prepara Federica, firma mia e del partecipante, copia nel fascicolo personale e registrazione MOD-HR-11.</a:t>
            </a:r>
          </a:p>
          <a:p>
            <a:r>
              <a:t>Pozzato S. - Elena, aggiorno io le date per le sessioni del turno notte? Bissoli e i suoi al 19/03 non ci possono essere, propongo il 26/03 alle 5:30 prima dell'attacco turno, già parlato con Guerra.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GLI ALLERGENI — FORMAZIONE ANNUALE OPERATORI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Aurora Food Group S.r.l. — Stabilimento di Cologna Veneta</a:t>
            </a:r>
          </a:p>
          <a:p>
            <a:r>
              <a:rPr sz="1300"/>
              <a:t>• Formazione obbligatoria — PRPo1 gestione allergeni</a:t>
            </a:r>
          </a:p>
          <a:p>
            <a:r>
              <a:rPr sz="1300"/>
              <a:t>• Relatore: dott.ssa Elena Marchetti (Qualità) con Sara Pozzato</a:t>
            </a:r>
          </a:p>
          <a:p>
            <a:r>
              <a:rPr sz="1300"/>
              <a:t>• Data: 19/03/2026 — turni 1 e 2 in sala mensa, turno 3 il 20/03</a:t>
            </a:r>
          </a:p>
          <a:p>
            <a:r>
              <a:rPr sz="1300"/>
              <a:t>• Firma sul registro MOD-HR-11 ALL'INGRESSO, non all'uscita</a:t>
            </a:r>
          </a:p>
          <a:p>
            <a:r>
              <a:rPr sz="1200"/>
              <a:t>&lt;immagine: logo Aurora Food Group&gt;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Perché siamo 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Un allergene per te è un ingrediente normale</a:t>
            </a:r>
          </a:p>
          <a:p>
            <a:r>
              <a:rPr sz="1300"/>
              <a:t>• Per una persona allergica può essere un VELENO</a:t>
            </a:r>
          </a:p>
          <a:p>
            <a:r>
              <a:rPr sz="1300"/>
              <a:t>• Bastano quantità piccolissime: briciole, polvere di farina, una goccia di crema</a:t>
            </a:r>
          </a:p>
          <a:p>
            <a:r>
              <a:rPr sz="1300"/>
              <a:t>• Non esiste "un po' allergico": la reazione può essere gravissima</a:t>
            </a:r>
          </a:p>
          <a:p>
            <a:r>
              <a:rPr sz="1300"/>
              <a:t>• La legge e i nostri clienti ci chiedono il controllo totale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Cosa succede a una persona allergica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Prurito, gonfiore di labbra e gola</a:t>
            </a:r>
          </a:p>
          <a:p>
            <a:r>
              <a:rPr sz="1300"/>
              <a:t>• Difficoltà a respirare</a:t>
            </a:r>
          </a:p>
          <a:p>
            <a:r>
              <a:rPr sz="1300"/>
              <a:t>• Vomito, dolori addominali</a:t>
            </a:r>
          </a:p>
          <a:p>
            <a:r>
              <a:rPr sz="1300"/>
              <a:t>• Shock anafilattico: la pressione crolla, si può morire in pochi minuti</a:t>
            </a:r>
          </a:p>
          <a:p>
            <a:r>
              <a:rPr sz="1300"/>
              <a:t>• La reazione può partire anche per TRACCE invisibili</a:t>
            </a:r>
          </a:p>
          <a:p>
            <a:r>
              <a:rPr sz="1200"/>
              <a:t>&lt;immagine: foto reazione allergica - gonfiore del viso&gt;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 14 allergeni della legge (Reg. UE 1169/2011, Allegato 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/>
            </a:r>
          </a:p>
          <a:p>
            <a:r>
              <a:rPr sz="1200"/>
              <a:t>N.|Allergene|Dove lo trovi da noi</a:t>
            </a:r>
          </a:p>
          <a:p>
            <a:r>
              <a:rPr sz="1200"/>
              <a:t>1|Cereali con GLUTINE (grano, orzo, segale...)|farina: OVUNQUE nello stabilimento</a:t>
            </a:r>
          </a:p>
          <a:p>
            <a:r>
              <a:rPr sz="1200"/>
              <a:t>2|Crostacei|non presente</a:t>
            </a:r>
          </a:p>
          <a:p>
            <a:r>
              <a:rPr sz="1200"/>
              <a:t>3|UOVA|creme, spennellatura croissant</a:t>
            </a:r>
          </a:p>
          <a:p>
            <a:r>
              <a:rPr sz="1200"/>
              <a:t>4|Pesce|non presente</a:t>
            </a:r>
          </a:p>
          <a:p>
            <a:r>
              <a:rPr sz="1200"/>
              <a:t>5|Arachidi|non presente ma ATTENZIONE ai fornitori</a:t>
            </a:r>
          </a:p>
          <a:p>
            <a:r>
              <a:rPr sz="1200"/>
              <a:t>6|SOIA|lecitina in alcune creme e margarine</a:t>
            </a:r>
          </a:p>
          <a:p>
            <a:r>
              <a:rPr sz="1200"/>
              <a:t>7|LATTE|burro, panna, latte in polvere — Linea 2 soprattutto</a:t>
            </a:r>
          </a:p>
          <a:p>
            <a:r>
              <a:rPr sz="1200"/>
              <a:t>8|FRUTTA A GUSCIO (nocciole, mandorle...)|creme nocciola, granelle</a:t>
            </a:r>
          </a:p>
          <a:p>
            <a:r>
              <a:rPr sz="1200"/>
              <a:t>9|Sedano|non presente</a:t>
            </a:r>
          </a:p>
          <a:p>
            <a:r>
              <a:rPr sz="1200"/>
              <a:t>10|Senape|non presente</a:t>
            </a:r>
          </a:p>
          <a:p>
            <a:r>
              <a:rPr sz="1200"/>
              <a:t>11|SESAMO|semi sul nuovo snack in sviluppo</a:t>
            </a:r>
          </a:p>
          <a:p>
            <a:r>
              <a:rPr sz="1200"/>
              <a:t>12|Anidride solforosa e solfiti|possibile in alcune materie prime</a:t>
            </a:r>
          </a:p>
          <a:p>
            <a:r>
              <a:rPr sz="1200"/>
              <a:t>13|Lupini|non presente</a:t>
            </a:r>
          </a:p>
          <a:p>
            <a:r>
              <a:rPr sz="1200"/>
              <a:t>14|Molluschi|non presente</a:t>
            </a:r>
          </a:p>
          <a:p>
            <a:r>
              <a:rPr sz="1200"/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Dove si nasconde la contaminazione da noi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POLVERE DI FARINA: vola, si posa dappertutto, il glutine viaggia nell'aria</a:t>
            </a:r>
          </a:p>
          <a:p>
            <a:r>
              <a:rPr sz="1300"/>
              <a:t>• UTENSILI: una spatola usata sulla crema nocciola e poi sull'impasto "senza"</a:t>
            </a:r>
          </a:p>
          <a:p>
            <a:r>
              <a:rPr sz="1300"/>
              <a:t>• MANI E GUANTI: toccare il burro e poi la linea degli snack</a:t>
            </a:r>
          </a:p>
          <a:p>
            <a:r>
              <a:rPr sz="1300"/>
              <a:t>• REWORK: rimpastare prodotto della ricetta sbagliata</a:t>
            </a:r>
          </a:p>
          <a:p>
            <a:r>
              <a:rPr sz="1300"/>
              <a:t>• ABITI DA LAVORO: le briciole nelle pieghe, nelle tasche</a:t>
            </a:r>
          </a:p>
          <a:p>
            <a:r>
              <a:rPr sz="1300"/>
              <a:t>• CARRELLI E CONTENITORI: usati per un prodotto e poi per un altro senza lavaggio</a:t>
            </a:r>
          </a:p>
          <a:p>
            <a:r>
              <a:rPr sz="1200"/>
              <a:t>&lt;immagine: pianta stabilimento con frecce dei flussi - linea 1 in giallo, linea 2 in rosso&gt;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regola d'oro n. 1 — LA SEQUENZA DI PRODUZIONE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Prima si produce SENZA l'allergene, poi CON l'allergene</a:t>
            </a:r>
          </a:p>
          <a:p>
            <a:r>
              <a:rPr sz="1300"/>
              <a:t>• Esempio Linea 2: prima il cornetto vuoto, poi quello alla crema di nocciola</a:t>
            </a:r>
          </a:p>
          <a:p>
            <a:r>
              <a:rPr sz="1300"/>
              <a:t>• La sequenza la decide il Responsabile di Produzione, NON si cambia in autonomia</a:t>
            </a:r>
          </a:p>
          <a:p>
            <a:r>
              <a:rPr sz="1300"/>
              <a:t>• Cambio prodotto con allergene diverso = LAVAGGIO con programma giusto (IO-05) + controllo</a:t>
            </a:r>
          </a:p>
          <a:p>
            <a:r>
              <a:rPr sz="1300"/>
              <a:t>• Se ti sembra che la sequenza di oggi sia strana: CHIEDI al capoturno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regola d'oro n. 2 — IL REWORK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Rework = prodotto che torna indietro nell'impasto (sfrido, prodotto non confezionato)</a:t>
            </a:r>
          </a:p>
          <a:p>
            <a:r>
              <a:rPr sz="1300"/>
              <a:t>• Il rework può entrare SOLO nella STESSA ricetta da cui viene</a:t>
            </a:r>
          </a:p>
          <a:p>
            <a:r>
              <a:rPr sz="1300"/>
              <a:t>• Contenitori del rework: SEMPRE etichettati (prodotto, lotto, data, firma)</a:t>
            </a:r>
          </a:p>
          <a:p>
            <a:r>
              <a:rPr sz="1300"/>
              <a:t>• Contenitore senza etichetta = NON si usa, si chiama il capoturno</a:t>
            </a:r>
          </a:p>
          <a:p>
            <a:r>
              <a:rPr sz="1300"/>
              <a:t>• </a:t>
            </a:r>
            <a:r>
              <a:rPr sz="1300" strike="sngStrike"/>
              <a:t>Il rework di fine turno si può congelare per il giorno dopo</a:t>
            </a:r>
            <a:r>
              <a:rPr sz="1300"/>
              <a:t> VIETATO dal 2026: il rework si usa nel turno, quello che avanza si scarta</a:t>
            </a:r>
          </a:p>
          <a:p>
            <a:r>
              <a:rPr sz="1200"/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regola d'oro n. 3 — PULIZIA E LAVAGGI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Dopo un prodotto con allergene: pulizia secondo IO-05, programma indicato dal piano</a:t>
            </a:r>
          </a:p>
          <a:p>
            <a:r>
              <a:rPr sz="1300"/>
              <a:t>• La pulizia "veloce" con l'aria compressa è VIETATA: sposta la polvere, non la toglie</a:t>
            </a:r>
          </a:p>
          <a:p>
            <a:r>
              <a:rPr sz="1300"/>
              <a:t>• A fine pulizia: controllo visivo del capoturno + tampone della Qualità quando previsto</a:t>
            </a:r>
          </a:p>
          <a:p>
            <a:r>
              <a:rPr sz="1300"/>
              <a:t>• La linea riparte solo con l'esito del controllo REGISTRATO</a:t>
            </a:r>
          </a:p>
          <a:p>
            <a:r>
              <a:rPr sz="1300"/>
              <a:t>• Stracci e utensili di pulizia: ogni linea ha i SUOI, col suo colore</a:t>
            </a:r>
          </a:p>
          <a:p>
            <a:r>
              <a:rPr sz="1200"/>
              <a:t>&lt;immagine: foto utensili colorati - manico giallo linea 1, rosso linea 2, blu linea 3&gt;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regola d'oro n. 4 — L'ETICHETTA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L'etichetta è una PROMESSA al consumatore allergico</a:t>
            </a:r>
          </a:p>
          <a:p>
            <a:r>
              <a:rPr sz="1300"/>
              <a:t>• Prodotto giusto nel film giusto: al cambio bobina CONTROLLA che sia quella del prodotto</a:t>
            </a:r>
          </a:p>
          <a:p>
            <a:r>
              <a:rPr sz="1300"/>
              <a:t>• Bobine avanzate: si riportano a magazzino identificate, MAI lasciate a bordo linea</a:t>
            </a:r>
          </a:p>
          <a:p>
            <a:r>
              <a:rPr sz="1300"/>
              <a:t>• Se il film non corrisponde al prodotto: FERMA e chiama il capoturno</a:t>
            </a:r>
          </a:p>
          <a:p>
            <a:r>
              <a:rPr sz="1300"/>
              <a:t>• Un'etichetta sbagliata = richiamo dal mercato, come un corpo estraneo. Anche peggio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 se sbaglio?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DILLO SUBITO. Subito = adesso, non a fine turno</a:t>
            </a:r>
          </a:p>
          <a:p>
            <a:r>
              <a:rPr sz="1300"/>
              <a:t>• Fermare e controllare costa poco. Un richiamo dal mercato costa moltissimo. Una persona in ospedale non ha prezzo</a:t>
            </a:r>
          </a:p>
          <a:p>
            <a:r>
              <a:rPr sz="1300"/>
              <a:t>• Chi segnala un errore — suo o di altri — NON viene punito: viene ringraziato</a:t>
            </a:r>
          </a:p>
          <a:p>
            <a:r>
              <a:rPr sz="1300"/>
              <a:t>• Chi NASCONDE un errore, quello sì che è un problema serio</a:t>
            </a:r>
          </a:p>
          <a:p>
            <a:r>
              <a:rPr sz="1300"/>
              <a:t>• Lo dice anche la Politica firmata dal titolare: nessuna consegna vale una deroga alla sicurezza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Riepilogo — le 5 cose da ricordare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1. I nostri 6 allergeni: GLUTINE, LATTE, UOVA, SOIA, FRUTTA A GUSCIO, SESAMO (in arrivo)</a:t>
            </a:r>
          </a:p>
          <a:p>
            <a:r>
              <a:rPr sz="1200"/>
              <a:t>2. La sequenza di produzione non si cambia</a:t>
            </a:r>
          </a:p>
          <a:p>
            <a:r>
              <a:rPr sz="1200"/>
              <a:t>3. Il rework solo nella stessa ricetta, contenitori sempre etichettati</a:t>
            </a:r>
          </a:p>
          <a:p>
            <a:r>
              <a:rPr sz="1200"/>
              <a:t>4. Pulizia col programma giusto, mai aria compressa</a:t>
            </a:r>
          </a:p>
          <a:p>
            <a:r>
              <a:rPr sz="1200"/>
              <a:t>5. Dubbio o errore? FERMA E CHIAMA. Subito</a:t>
            </a:r>
          </a:p>
          <a:p>
            <a:r>
              <a:rPr sz="1200"/>
              <a:t>&lt;immagine: cartello riassuntivo 5 regole - versione da bacheca&gt;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TEST FINALE — 8 domande (rispondi vero o falso)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1. Un'allergia grave può partire anche da tracce invisibili di allergene. V / F</a:t>
            </a:r>
          </a:p>
          <a:p>
            <a:r>
              <a:rPr sz="1300"/>
              <a:t>• 2. Il latte è presente solo sulla Linea 3. V / F</a:t>
            </a:r>
          </a:p>
          <a:p>
            <a:r>
              <a:rPr sz="1300"/>
              <a:t>• 3. Il rework può entrare in una ricetta diversa se gli ingredienti "sono simili". V / F</a:t>
            </a:r>
          </a:p>
          <a:p>
            <a:r>
              <a:rPr sz="1300"/>
              <a:t>• 4. La pulizia con aria compressa è un buon modo per togliere la farina dalla linea. V / F</a:t>
            </a:r>
          </a:p>
          <a:p>
            <a:r>
              <a:rPr sz="1300"/>
              <a:t>• 5. Un contenitore di rework senza etichetta non si usa. V / F</a:t>
            </a:r>
          </a:p>
          <a:p>
            <a:r>
              <a:rPr sz="1300"/>
              <a:t>• 6. La sequenza di produzione la può cambiare l'operatore se è in ritardo. V / F</a:t>
            </a:r>
          </a:p>
          <a:p>
            <a:r>
              <a:rPr sz="1300"/>
              <a:t>• 7. Al cambio bobina devo controllare che il film sia quello del prodotto in linea. V / F</a:t>
            </a:r>
          </a:p>
          <a:p>
            <a:r>
              <a:rPr sz="1300"/>
              <a:t>• 8. Se mi accorgo di un errore a metà turno posso aspettare la pausa per dirlo. V / 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Grazie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/>
              <a:t>• Domande?</a:t>
            </a:r>
          </a:p>
          <a:p>
            <a:r>
              <a:rPr sz="1300"/>
              <a:t>• Qualità: interno 214 (Marchetti) — 215 (Pozzato)</a:t>
            </a:r>
          </a:p>
          <a:p>
            <a:r>
              <a:rPr sz="1300"/>
              <a:t>• Il piano allergeni completo (PRPo1) è disponibile in Qualità per chi lo vuole vedere</a:t>
            </a:r>
          </a:p>
          <a:p>
            <a:r>
              <a:rPr sz="1200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Aurora Food Group S.r.l.</Company>
  <AppVersion>16.0300</AppVersion>
  <TotalTime>426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formazione allergeni operatori 2026</dc:title>
  <dc:creator>Sara Pozzato</dc:creator>
  <cp:lastModifiedBy>Elena Marchetti</cp:lastModifiedBy>
  <cp:revision>22</cp:revision>
  <dc:description/>
  <dcterms:created xsi:type="dcterms:W3CDTF">2025-08-04T02:15:49Z</dcterms:created>
  <dcterms:modified xsi:type="dcterms:W3CDTF">2026-02-11T10:15:49Z</dcterms:modified>
  <cp:company>Aurora Food Group S.r.l.</cp:company>
</cp:coreProperties>
</file>